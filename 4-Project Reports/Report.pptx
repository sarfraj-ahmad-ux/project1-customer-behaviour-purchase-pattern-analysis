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lasio" panose="020B0604020202020204" charset="0"/>
      <p:regular r:id="rId13"/>
    </p:embeddedFont>
    <p:embeddedFont>
      <p:font typeface="Gelasio Bold" panose="020B0604020202020204" charset="0"/>
      <p:regular r:id="rId14"/>
    </p:embeddedFont>
    <p:embeddedFont>
      <p:font typeface="Gelasio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dab Afroj" userId="5a0746cf72029e20" providerId="LiveId" clId="{3BD6C143-1E75-4085-903B-61209CB6869C}"/>
    <pc:docChg chg="modSld">
      <pc:chgData name="Shadab Afroj" userId="5a0746cf72029e20" providerId="LiveId" clId="{3BD6C143-1E75-4085-903B-61209CB6869C}" dt="2026-09-12T05:41:29.654" v="44" actId="20577"/>
      <pc:docMkLst>
        <pc:docMk/>
      </pc:docMkLst>
      <pc:sldChg chg="modSp mod">
        <pc:chgData name="Shadab Afroj" userId="5a0746cf72029e20" providerId="LiveId" clId="{3BD6C143-1E75-4085-903B-61209CB6869C}" dt="2026-09-12T05:41:29.654" v="44" actId="20577"/>
        <pc:sldMkLst>
          <pc:docMk/>
          <pc:sldMk cId="0" sldId="263"/>
        </pc:sldMkLst>
        <pc:spChg chg="mod">
          <ac:chgData name="Shadab Afroj" userId="5a0746cf72029e20" providerId="LiveId" clId="{3BD6C143-1E75-4085-903B-61209CB6869C}" dt="2026-09-12T05:41:29.654" v="44" actId="20577"/>
          <ac:spMkLst>
            <pc:docMk/>
            <pc:sldMk cId="0" sldId="263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821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363986"/>
            <a:ext cx="2224230" cy="287139"/>
          </a:xfrm>
          <a:prstGeom prst="roundRect">
            <a:avLst>
              <a:gd name="adj" fmla="val 7899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4879" y="2420640"/>
            <a:ext cx="260700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ANALYTICS PROJECT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72673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Customer Behavior &amp; Purchase Pattern Analysis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419149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End-to-End Workflow — Python · MySQL · Power BI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0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Project at a Glance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25203"/>
            <a:ext cx="5316206" cy="50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233K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61475" y="236229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Total Volume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2770981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3,900 orders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1625203"/>
            <a:ext cx="5316305" cy="50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59.76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213915" y="236229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Avg Quantity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2770981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 purchase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3545880"/>
            <a:ext cx="5316206" cy="50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4,000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61475" y="4282976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Customer Base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4691658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Unique users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13915" y="3545880"/>
            <a:ext cx="5316305" cy="50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26.88%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6213915" y="4282976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Subscribers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213915" y="4691658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63K share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5206702"/>
            <a:ext cx="2575357" cy="1089124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50482" y="5395714"/>
            <a:ext cx="21973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Jupyter Notebook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50482" y="5804396"/>
            <a:ext cx="21973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Project1.ipynb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425839" y="5206702"/>
            <a:ext cx="2575456" cy="1089124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14846" y="5395714"/>
            <a:ext cx="21974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MySQL Database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3614846" y="5804396"/>
            <a:ext cx="21974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Project1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0301" y="5206702"/>
            <a:ext cx="2575456" cy="1089124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79308" y="5395714"/>
            <a:ext cx="21974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Power BI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379308" y="5804396"/>
            <a:ext cx="21974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Desktop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954764" y="5206702"/>
            <a:ext cx="2575456" cy="1089124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143771" y="5395714"/>
            <a:ext cx="21974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9143771" y="5804396"/>
            <a:ext cx="21974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~3,900 records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678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Finding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3141960"/>
            <a:ext cx="5476043" cy="1448197"/>
          </a:xfrm>
          <a:prstGeom prst="roundRect">
            <a:avLst>
              <a:gd name="adj" fmla="val 1958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14357" y="3330972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Category Performance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815259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Clothing leads with </a:t>
            </a:r>
            <a:r>
              <a:rPr lang="en-US" sz="14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104K</a:t>
            </a: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in sales (3.40K interactions), followed by Accessories (74K) and Footwear (36K).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333097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Subscription Gap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81525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Non-subscribers drive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73.12%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(170K) of total volume — a major conversion opportunity.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22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 Preprocessing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60923"/>
            <a:ext cx="3145850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D3C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4879" y="2517577"/>
            <a:ext cx="352862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JUPYTER NOTEBOOK · PROJECT1.IPYNB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60688"/>
            <a:ext cx="472468" cy="472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0177" y="2960688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Null &amp; Rating Cleaning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370177" y="3369370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Missing values across ratings, shipping, discounts handled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960688"/>
            <a:ext cx="472468" cy="472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2617" y="2960688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Column Standardization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922617" y="3369370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snake_case formats for seamless SQL querying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52230"/>
            <a:ext cx="472468" cy="472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0177" y="4352230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Feature Binning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370177" y="4760912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Ages segmented: Young Adult, Adult, Middle Aged, Senior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352230"/>
            <a:ext cx="472468" cy="472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22617" y="4352230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Type Formatting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922617" y="4760912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Purchase volumes cast to numeric; binary flags standardized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2235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SQL Queries 01–03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91023"/>
            <a:ext cx="178916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D3C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4879" y="2847677"/>
            <a:ext cx="217194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MYSQL WORKBENCH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90788"/>
            <a:ext cx="3496877" cy="17447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505200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Q1 · Gender Revenue Share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4209157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distribution by gender for targeted marketing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290788"/>
            <a:ext cx="3496877" cy="17447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363" y="350520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Q2 · Discount Sensitivity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663363" y="3913882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High-value buyers using discounts above avg (59.76)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290788"/>
            <a:ext cx="3496877" cy="17447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9247" y="350520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Q3 · Product Ratings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49247" y="3913882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5: Gloves (3.86), Sandals (3.84), Boots (3.82), Hat (3.80), Skirt (3.78)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722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SQL Queries 04–06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40955"/>
            <a:ext cx="3496877" cy="17447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3255367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Q4 · Shipping Comparison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959324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 purchase: Standard vs. Express — basket size correlation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040955"/>
            <a:ext cx="3496877" cy="17447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325536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Q5 · Subscription Impact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664049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Non-subscribers: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170K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vs. subscribers: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63K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primary growth lever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040955"/>
            <a:ext cx="3496877" cy="17447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3255367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Q6 · Discount Reliance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3664049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5 products by discount purchase % — promotional dependency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90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SQL Queries 07–10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27697"/>
            <a:ext cx="5339820" cy="1139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74210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Q7 · Customer Segmentation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150791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New, Returning, Loyal cohorts via previous purchases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527697"/>
            <a:ext cx="5339919" cy="11399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74210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Q8 · Category Top Performers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3150791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3 best-sellers per category using window functions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56633"/>
            <a:ext cx="5339820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4071045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Q9 · Repeat Buyer Subscription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4479727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Subscription conversion among buyers with &gt;5 orders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3856633"/>
            <a:ext cx="5339919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06305" y="4071045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Q10 · Demographic Contribution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506305" y="4479727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age group: Young Adult, Adult, Middle Aged, Senior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92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Dashboard Insights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77876"/>
            <a:ext cx="97777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D3C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4879" y="1634530"/>
            <a:ext cx="13605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90266"/>
            <a:ext cx="5203794" cy="37458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32776" y="226665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Sales by Category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275093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Clothing dominates at 1.74K. Customer interactions: Clothing 1.74k, Accessories 1.24k, Footwear 0.60k, Outerwear 0.32k.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32776" y="384720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Review Ratings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32776" y="433149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Consistently high — led by Gloves (3.86), Sandals (3.84), Boots (3.82), Hat (3.80).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Subscription Breakdown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73.12% Non-Subscribers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170K of 233K total volume comes from non-subscribers — the primary conversion opportunity.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2476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26.88% Subscribers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373191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Only 63K from subscribed users, despite higher engagement potential.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066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Recommendations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75285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2365" y="311070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3140174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Subscription Conversion Push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3844131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 repeat buyers (&gt;5 orders) with exclusive subscriber perks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3135" y="3075285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434025" y="311070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77383" y="3140174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Double Down on Top Categories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977383" y="3844131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Prioritize Clothing (104K) and Accessories (74K) in inventory and placement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64794" y="3075285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135684" y="311070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79042" y="3140174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Minimum Spend Thresholds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679042" y="3844131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Shift discount users above avg (59.76) to threshold promos — e.g., "10 off orders over 75"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477</Words>
  <Application>Microsoft Office PowerPoint</Application>
  <PresentationFormat>Widescreen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Gelasio</vt:lpstr>
      <vt:lpstr>Arial</vt:lpstr>
      <vt:lpstr>Gelasio Bold</vt:lpstr>
      <vt:lpstr>Gelasio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Shadab Afroj</cp:lastModifiedBy>
  <cp:revision>1</cp:revision>
  <dcterms:created xsi:type="dcterms:W3CDTF">2026-08-31T05:36:28Z</dcterms:created>
  <dcterms:modified xsi:type="dcterms:W3CDTF">2026-09-12T05:41:38Z</dcterms:modified>
</cp:coreProperties>
</file>