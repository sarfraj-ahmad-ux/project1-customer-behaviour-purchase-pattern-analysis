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embeddedFontLst>
    <p:embeddedFont>
      <p:font typeface="Gelasio"/>
      <p:regular r:id="rId201314"/>
    </p:embeddedFont>
    <p:embeddedFont>
      <p:font typeface="Gelasio SemiBold"/>
      <p:regular r:id="rId201315"/>
    </p:embeddedFont>
    <p:embeddedFont>
      <p:font typeface="Gelasio Bold"/>
      <p:regular r:id="rId2013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Relationship Id="rId201318" Target="fonts/201318.fntdata" Type="http://schemas.openxmlformats.org/officeDocument/2006/relationships/font"/><Relationship Id="rId201319" Target="fonts/201319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DCFB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6F0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1.png"/><Relationship Id="rId4" Type="http://schemas.openxmlformats.org/officeDocument/2006/relationships/image" Target="../media/image-5-2.svg"/><Relationship Id="rId5" Type="http://schemas.openxmlformats.org/officeDocument/2006/relationships/image" Target="../media/image-5-1.png"/><Relationship Id="rId6" Type="http://schemas.openxmlformats.org/officeDocument/2006/relationships/image" Target="../media/image-5-2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1.png"/><Relationship Id="rId4" Type="http://schemas.openxmlformats.org/officeDocument/2006/relationships/image" Target="../media/image-5-2.svg"/><Relationship Id="rId5" Type="http://schemas.openxmlformats.org/officeDocument/2006/relationships/image" Target="../media/image-5-1.png"/><Relationship Id="rId6" Type="http://schemas.openxmlformats.org/officeDocument/2006/relationships/image" Target="../media/image-5-2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1.png"/><Relationship Id="rId4" Type="http://schemas.openxmlformats.org/officeDocument/2006/relationships/image" Target="../media/image-7-2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5.png"/><Relationship Id="rId8" Type="http://schemas.openxmlformats.org/officeDocument/2006/relationships/image" Target="../media/image-7-6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2363986"/>
            <a:ext cx="2224230" cy="287139"/>
          </a:xfrm>
          <a:prstGeom prst="roundRect">
            <a:avLst>
              <a:gd name="adj" fmla="val 7899"/>
            </a:avLst>
          </a:prstGeom>
          <a:solidFill>
            <a:srgbClr val="ECE6DF"/>
          </a:solidFill>
          <a:ln/>
        </p:spPr>
      </p:sp>
      <p:sp>
        <p:nvSpPr>
          <p:cNvPr id="3" name="Text 1"/>
          <p:cNvSpPr/>
          <p:nvPr/>
        </p:nvSpPr>
        <p:spPr>
          <a:xfrm>
            <a:off x="774879" y="2420640"/>
            <a:ext cx="2607007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DATA ANALYTICS PROJECT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61475" y="2726730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Customer Behavior &amp; Purchase Pattern Analysis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661475" y="4191496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End-to-End Workflow — Python · MySQL · Power BI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2074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Project at a Glance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625203"/>
            <a:ext cx="5316206" cy="5009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390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233K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661475" y="2362299"/>
            <a:ext cx="53162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Total Volume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661475" y="2770981"/>
            <a:ext cx="531620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3,900 orders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3915" y="1625203"/>
            <a:ext cx="5316305" cy="5009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390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59.76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6213915" y="2362299"/>
            <a:ext cx="53163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Avg Quantity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6213915" y="2770981"/>
            <a:ext cx="531630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Per purchase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61475" y="3545880"/>
            <a:ext cx="5316206" cy="5009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390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4,000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661475" y="4282976"/>
            <a:ext cx="53162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Customer Base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661475" y="4691658"/>
            <a:ext cx="531620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Unique users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213915" y="3545880"/>
            <a:ext cx="5316305" cy="5009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390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26.88%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6213915" y="4282976"/>
            <a:ext cx="53163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Subscribers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6213915" y="4691658"/>
            <a:ext cx="531630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63K share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61475" y="5206702"/>
            <a:ext cx="2575357" cy="1089124"/>
          </a:xfrm>
          <a:prstGeom prst="roundRect">
            <a:avLst>
              <a:gd name="adj" fmla="val 2603"/>
            </a:avLst>
          </a:prstGeom>
          <a:solidFill>
            <a:srgbClr val="EEE8DD"/>
          </a:solidFill>
          <a:ln/>
        </p:spPr>
      </p:sp>
      <p:sp>
        <p:nvSpPr>
          <p:cNvPr id="16" name="Text 14"/>
          <p:cNvSpPr/>
          <p:nvPr/>
        </p:nvSpPr>
        <p:spPr>
          <a:xfrm>
            <a:off x="850482" y="5395714"/>
            <a:ext cx="219734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Jupyter Notebook</a:t>
            </a:r>
            <a:endParaRPr lang="en-US" sz="1850" dirty="0"/>
          </a:p>
        </p:txBody>
      </p:sp>
      <p:sp>
        <p:nvSpPr>
          <p:cNvPr id="17" name="Text 15"/>
          <p:cNvSpPr/>
          <p:nvPr/>
        </p:nvSpPr>
        <p:spPr>
          <a:xfrm>
            <a:off x="850482" y="5804396"/>
            <a:ext cx="2197343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Project1.ipynb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3425839" y="5206702"/>
            <a:ext cx="2575456" cy="1089124"/>
          </a:xfrm>
          <a:prstGeom prst="roundRect">
            <a:avLst>
              <a:gd name="adj" fmla="val 2603"/>
            </a:avLst>
          </a:prstGeom>
          <a:solidFill>
            <a:srgbClr val="EEE8DD"/>
          </a:solidFill>
          <a:ln/>
        </p:spPr>
      </p:sp>
      <p:sp>
        <p:nvSpPr>
          <p:cNvPr id="19" name="Text 17"/>
          <p:cNvSpPr/>
          <p:nvPr/>
        </p:nvSpPr>
        <p:spPr>
          <a:xfrm>
            <a:off x="3614846" y="5395714"/>
            <a:ext cx="219744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MySQL Database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3614846" y="5804396"/>
            <a:ext cx="2197442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Project1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6190301" y="5206702"/>
            <a:ext cx="2575456" cy="1089124"/>
          </a:xfrm>
          <a:prstGeom prst="roundRect">
            <a:avLst>
              <a:gd name="adj" fmla="val 2603"/>
            </a:avLst>
          </a:prstGeom>
          <a:solidFill>
            <a:srgbClr val="EEE8DD"/>
          </a:solidFill>
          <a:ln/>
        </p:spPr>
      </p:sp>
      <p:sp>
        <p:nvSpPr>
          <p:cNvPr id="22" name="Text 20"/>
          <p:cNvSpPr/>
          <p:nvPr/>
        </p:nvSpPr>
        <p:spPr>
          <a:xfrm>
            <a:off x="6379308" y="5395714"/>
            <a:ext cx="219744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Power BI</a:t>
            </a:r>
            <a:endParaRPr lang="en-US" sz="1850" dirty="0"/>
          </a:p>
        </p:txBody>
      </p:sp>
      <p:sp>
        <p:nvSpPr>
          <p:cNvPr id="23" name="Text 21"/>
          <p:cNvSpPr/>
          <p:nvPr/>
        </p:nvSpPr>
        <p:spPr>
          <a:xfrm>
            <a:off x="6379308" y="5804396"/>
            <a:ext cx="2197442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Desktop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8954764" y="5206702"/>
            <a:ext cx="2575456" cy="1089124"/>
          </a:xfrm>
          <a:prstGeom prst="roundRect">
            <a:avLst>
              <a:gd name="adj" fmla="val 2603"/>
            </a:avLst>
          </a:prstGeom>
          <a:solidFill>
            <a:srgbClr val="EEE8DD"/>
          </a:solidFill>
          <a:ln/>
        </p:spPr>
      </p:sp>
      <p:sp>
        <p:nvSpPr>
          <p:cNvPr id="25" name="Text 23"/>
          <p:cNvSpPr/>
          <p:nvPr/>
        </p:nvSpPr>
        <p:spPr>
          <a:xfrm>
            <a:off x="9143771" y="5395714"/>
            <a:ext cx="219744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Dataset</a:t>
            </a:r>
            <a:endParaRPr lang="en-US" sz="1850" dirty="0"/>
          </a:p>
        </p:txBody>
      </p:sp>
      <p:sp>
        <p:nvSpPr>
          <p:cNvPr id="26" name="Text 24"/>
          <p:cNvSpPr/>
          <p:nvPr/>
        </p:nvSpPr>
        <p:spPr>
          <a:xfrm>
            <a:off x="9143771" y="5804396"/>
            <a:ext cx="2197442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~3,900 records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226784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Key Finding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525350" y="3141960"/>
            <a:ext cx="5476043" cy="1448197"/>
          </a:xfrm>
          <a:prstGeom prst="roundRect">
            <a:avLst>
              <a:gd name="adj" fmla="val 1958"/>
            </a:avLst>
          </a:prstGeom>
          <a:solidFill>
            <a:srgbClr val="D3C5B6"/>
          </a:solidFill>
          <a:ln/>
        </p:spPr>
      </p:sp>
      <p:sp>
        <p:nvSpPr>
          <p:cNvPr id="4" name="Text 2"/>
          <p:cNvSpPr/>
          <p:nvPr/>
        </p:nvSpPr>
        <p:spPr>
          <a:xfrm>
            <a:off x="714357" y="3330972"/>
            <a:ext cx="509802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Category Performance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714357" y="3815259"/>
            <a:ext cx="509802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Clothing leads with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104K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in sales (3.40K interactions), followed by Accessories (74K) and Footwear (36K).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332776" y="3330972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Subscription Gap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6332776" y="3815259"/>
            <a:ext cx="5203794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Non-subscribers drive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746558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73.12%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(170K) of total volume — a major conversion opportunity.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92250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Data Preprocessing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2460923"/>
            <a:ext cx="3145850" cy="287139"/>
          </a:xfrm>
          <a:prstGeom prst="roundRect">
            <a:avLst>
              <a:gd name="adj" fmla="val 7899"/>
            </a:avLst>
          </a:prstGeom>
          <a:noFill/>
          <a:ln w="6350">
            <a:solidFill>
              <a:srgbClr val="D3C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4879" y="2517577"/>
            <a:ext cx="3528627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150" dirty="0">
                <a:solidFill>
                  <a:srgbClr val="D3C5B6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JUPYTER NOTEBOOK · PROJECT1.IPYNB</a:t>
            </a:r>
            <a:endParaRPr lang="en-US" sz="11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475" y="2960688"/>
            <a:ext cx="472468" cy="472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0177" y="2960688"/>
            <a:ext cx="460750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Null &amp; Rating Cleaning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1370177" y="3369370"/>
            <a:ext cx="4607504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Missing values across ratings, shipping, discounts handled</a:t>
            </a:r>
            <a:endParaRPr lang="en-US" sz="14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13915" y="2960688"/>
            <a:ext cx="472468" cy="472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922617" y="2960688"/>
            <a:ext cx="460760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Column Standardization</a:t>
            </a:r>
            <a:endParaRPr lang="en-US" sz="1850" dirty="0"/>
          </a:p>
        </p:txBody>
      </p:sp>
      <p:sp>
        <p:nvSpPr>
          <p:cNvPr id="10" name="Text 6"/>
          <p:cNvSpPr/>
          <p:nvPr/>
        </p:nvSpPr>
        <p:spPr>
          <a:xfrm>
            <a:off x="6922617" y="3369370"/>
            <a:ext cx="4607603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snake_case formats for seamless SQL querying</a:t>
            </a:r>
            <a:endParaRPr lang="en-US" sz="14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4352230"/>
            <a:ext cx="472468" cy="4724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70177" y="4352230"/>
            <a:ext cx="460750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Feature Binning</a:t>
            </a:r>
            <a:endParaRPr lang="en-US" sz="1850" dirty="0"/>
          </a:p>
        </p:txBody>
      </p:sp>
      <p:sp>
        <p:nvSpPr>
          <p:cNvPr id="13" name="Text 8"/>
          <p:cNvSpPr/>
          <p:nvPr/>
        </p:nvSpPr>
        <p:spPr>
          <a:xfrm>
            <a:off x="1370177" y="4760912"/>
            <a:ext cx="4607504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Ages segmented: Young Adult, Adult, Middle Aged, Senior</a:t>
            </a:r>
            <a:endParaRPr lang="en-US" sz="14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13915" y="4352230"/>
            <a:ext cx="472468" cy="4724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922617" y="4352230"/>
            <a:ext cx="460760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Type Formatting</a:t>
            </a:r>
            <a:endParaRPr lang="en-US" sz="1850" dirty="0"/>
          </a:p>
        </p:txBody>
      </p:sp>
      <p:sp>
        <p:nvSpPr>
          <p:cNvPr id="16" name="Text 10"/>
          <p:cNvSpPr/>
          <p:nvPr/>
        </p:nvSpPr>
        <p:spPr>
          <a:xfrm>
            <a:off x="6922617" y="4760912"/>
            <a:ext cx="460760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Purchase volumes cast to numeric; binary flags standardized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822351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SQL Queries 01–03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2791023"/>
            <a:ext cx="1789167" cy="287139"/>
          </a:xfrm>
          <a:prstGeom prst="roundRect">
            <a:avLst>
              <a:gd name="adj" fmla="val 7899"/>
            </a:avLst>
          </a:prstGeom>
          <a:noFill/>
          <a:ln w="6350">
            <a:solidFill>
              <a:srgbClr val="D3C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4879" y="2847677"/>
            <a:ext cx="2171943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150" dirty="0">
                <a:solidFill>
                  <a:srgbClr val="D3C5B6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MYSQL WORKBENCH</a:t>
            </a:r>
            <a:endParaRPr lang="en-US" sz="11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475" y="3290788"/>
            <a:ext cx="3496877" cy="17447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77479" y="3505200"/>
            <a:ext cx="2966467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Q1 · Gender Revenue Share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977479" y="4209157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Revenue distribution by gender for targeted marketing</a:t>
            </a:r>
            <a:endParaRPr lang="en-US" sz="14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7359" y="3290788"/>
            <a:ext cx="3496877" cy="174476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63363" y="3505200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Q2 · Discount Sensitivity</a:t>
            </a:r>
            <a:endParaRPr lang="en-US" sz="1850" dirty="0"/>
          </a:p>
        </p:txBody>
      </p:sp>
      <p:sp>
        <p:nvSpPr>
          <p:cNvPr id="10" name="Text 6"/>
          <p:cNvSpPr/>
          <p:nvPr/>
        </p:nvSpPr>
        <p:spPr>
          <a:xfrm>
            <a:off x="4663363" y="3913882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High-value buyers using discounts above avg (59.76)</a:t>
            </a:r>
            <a:endParaRPr lang="en-US" sz="14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33244" y="3290788"/>
            <a:ext cx="3496877" cy="174476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349247" y="3505200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Q3 · Product Ratings</a:t>
            </a:r>
            <a:endParaRPr lang="en-US" sz="1850" dirty="0"/>
          </a:p>
        </p:txBody>
      </p:sp>
      <p:sp>
        <p:nvSpPr>
          <p:cNvPr id="13" name="Text 8"/>
          <p:cNvSpPr/>
          <p:nvPr/>
        </p:nvSpPr>
        <p:spPr>
          <a:xfrm>
            <a:off x="8349247" y="3913882"/>
            <a:ext cx="2966467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Top 5: Gloves (3.86), Sandals (3.84), Boots (3.82), Hat (3.80), Skirt (3.78)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207228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SQL Queries 04–06</a:t>
            </a:r>
            <a:endParaRPr lang="en-US" sz="3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475" y="3040955"/>
            <a:ext cx="3496877" cy="174476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77479" y="3255367"/>
            <a:ext cx="2966467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Q4 · Shipping Comparison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977479" y="3959324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Avg purchase: Standard vs. Express — basket size correlation</a:t>
            </a:r>
            <a:endParaRPr lang="en-US" sz="14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7359" y="3040955"/>
            <a:ext cx="3496877" cy="174476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63363" y="3255367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Q5 · Subscription Impact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663363" y="3664049"/>
            <a:ext cx="2966467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Non-subscribers: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746558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170K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vs. subscribers: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746558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63K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— primary growth lever</a:t>
            </a:r>
            <a:endParaRPr lang="en-US" sz="14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33244" y="3040955"/>
            <a:ext cx="3496877" cy="174476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349247" y="3255367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Q6 · Discount Reliance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349247" y="3664049"/>
            <a:ext cx="2966467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Top 5 products by discount purchase % — promotional dependency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59024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SQL Queries 07–10</a:t>
            </a:r>
            <a:endParaRPr lang="en-US" sz="3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475" y="2527697"/>
            <a:ext cx="5339820" cy="11399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77479" y="2742109"/>
            <a:ext cx="48094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Q7 · Customer Segmentation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977479" y="3150791"/>
            <a:ext cx="480940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New, Returning, Loyal cohorts via previous purchases</a:t>
            </a:r>
            <a:endParaRPr lang="en-US" sz="14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90301" y="2527697"/>
            <a:ext cx="5339919" cy="11399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06305" y="2742109"/>
            <a:ext cx="48095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Q8 · Category Top Performers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6506305" y="3150791"/>
            <a:ext cx="480950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Top 3 best-sellers per category using window functions</a:t>
            </a:r>
            <a:endParaRPr lang="en-US" sz="14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3856633"/>
            <a:ext cx="5339820" cy="144234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77479" y="4071045"/>
            <a:ext cx="48094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Q9 · Repeat Buyer Subscription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977479" y="4479727"/>
            <a:ext cx="480940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Subscription conversion among buyers with &gt;5 orders</a:t>
            </a:r>
            <a:endParaRPr lang="en-US" sz="14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90301" y="3856633"/>
            <a:ext cx="5339919" cy="144234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506305" y="4071045"/>
            <a:ext cx="48095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Q10 · Demographic Contribution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6506305" y="4479727"/>
            <a:ext cx="480950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Revenue by age group: Young Adult, Adult, Middle Aged, Senior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0920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Dashboard Insights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1577876"/>
            <a:ext cx="977776" cy="287139"/>
          </a:xfrm>
          <a:prstGeom prst="roundRect">
            <a:avLst>
              <a:gd name="adj" fmla="val 7899"/>
            </a:avLst>
          </a:prstGeom>
          <a:noFill/>
          <a:ln w="6350">
            <a:solidFill>
              <a:srgbClr val="D3C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4879" y="1634530"/>
            <a:ext cx="1360553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150" dirty="0">
                <a:solidFill>
                  <a:srgbClr val="D3C5B6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POWER BI</a:t>
            </a:r>
            <a:endParaRPr lang="en-US" sz="11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2290266"/>
            <a:ext cx="5203794" cy="374580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32776" y="2266652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Sales by Category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6332776" y="2750939"/>
            <a:ext cx="5203794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Clothing dominates at 104K. Customer interactions: Clothing 3.40M, Accessories 2.41M, Footwear 1.17M, Outerwear 0.62M.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332776" y="3847207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Review Ratings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6332776" y="4331494"/>
            <a:ext cx="5203794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Consistently high — led by Gloves (3.86), Sandals (3.84), Boots (3.82), Hat (3.80).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0636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Subscription Breakdown</a:t>
            </a:r>
            <a:endParaRPr lang="en-US" sz="3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1993106"/>
            <a:ext cx="5203794" cy="374580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32776" y="1969492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73.12% Non-Subscribers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332776" y="2453779"/>
            <a:ext cx="5203794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170K of 233K total volume comes from non-subscribers — the primary conversion opportunity.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6332776" y="3247628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26.88% Subscribers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6332776" y="3731915"/>
            <a:ext cx="5203794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Only 63K from subscribed users, despite higher engagement potential.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210661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Recommendations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3075285"/>
            <a:ext cx="425241" cy="425252"/>
          </a:xfrm>
          <a:prstGeom prst="roundRect">
            <a:avLst>
              <a:gd name="adj" fmla="val 6667"/>
            </a:avLst>
          </a:prstGeom>
          <a:solidFill>
            <a:srgbClr val="EEE8DD"/>
          </a:solidFill>
          <a:ln/>
        </p:spPr>
      </p:sp>
      <p:sp>
        <p:nvSpPr>
          <p:cNvPr id="4" name="Text 2"/>
          <p:cNvSpPr/>
          <p:nvPr/>
        </p:nvSpPr>
        <p:spPr>
          <a:xfrm>
            <a:off x="732365" y="3110706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75723" y="3140174"/>
            <a:ext cx="2851178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Subscription Conversion Push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1275723" y="3844131"/>
            <a:ext cx="2851178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Target repeat buyers (&gt;5 orders) with exclusive subscriber perks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63135" y="3075285"/>
            <a:ext cx="425241" cy="425252"/>
          </a:xfrm>
          <a:prstGeom prst="roundRect">
            <a:avLst>
              <a:gd name="adj" fmla="val 6667"/>
            </a:avLst>
          </a:prstGeom>
          <a:solidFill>
            <a:srgbClr val="EEE8DD"/>
          </a:solidFill>
          <a:ln/>
        </p:spPr>
      </p:sp>
      <p:sp>
        <p:nvSpPr>
          <p:cNvPr id="8" name="Text 6"/>
          <p:cNvSpPr/>
          <p:nvPr/>
        </p:nvSpPr>
        <p:spPr>
          <a:xfrm>
            <a:off x="4434025" y="3110706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77383" y="3140174"/>
            <a:ext cx="2851178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Double Down on Top Categories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4977383" y="3844131"/>
            <a:ext cx="285117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Prioritize Clothing (104K) and Accessories (74K) in inventory and placement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064794" y="3075285"/>
            <a:ext cx="425241" cy="425252"/>
          </a:xfrm>
          <a:prstGeom prst="roundRect">
            <a:avLst>
              <a:gd name="adj" fmla="val 6667"/>
            </a:avLst>
          </a:prstGeom>
          <a:solidFill>
            <a:srgbClr val="EEE8DD"/>
          </a:solidFill>
          <a:ln/>
        </p:spPr>
      </p:sp>
      <p:sp>
        <p:nvSpPr>
          <p:cNvPr id="12" name="Text 10"/>
          <p:cNvSpPr/>
          <p:nvPr/>
        </p:nvSpPr>
        <p:spPr>
          <a:xfrm>
            <a:off x="8135684" y="3110706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679042" y="3140174"/>
            <a:ext cx="2851178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Minimum Spend Thresholds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8679042" y="3844131"/>
            <a:ext cx="285117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Shift discount users above avg (59.76) to threshold promos — e.g., "10 off orders over 75"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2026-08-31T05:36:28Z</dcterms:created>
  <dcterms:modified xsi:type="dcterms:W3CDTF">2026-08-31T05:36:28Z</dcterms:modified>
</cp:coreProperties>
</file>